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4D6FC5-15E9-457F-8978-651FE5C5D58F}" v="1" dt="2026-10-21T16:32:10.9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6/11/relationships/changesInfo" Target="changesInfos/changesInfo1.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 userId="8eddc4f8-40a1-49ff-9eca-35f95811660b" providerId="ADAL" clId="{90CAD2EB-C547-42C3-9F1F-0B5E34014355}"/>
    <pc:docChg chg="undo custSel modSld">
      <pc:chgData name="Shan" userId="8eddc4f8-40a1-49ff-9eca-35f95811660b" providerId="ADAL" clId="{90CAD2EB-C547-42C3-9F1F-0B5E34014355}" dt="2026-10-21T16:59:12.704" v="22" actId="20577"/>
      <pc:docMkLst>
        <pc:docMk/>
      </pc:docMkLst>
      <pc:sldChg chg="addSp delSp modSp mod">
        <pc:chgData name="Shan" userId="8eddc4f8-40a1-49ff-9eca-35f95811660b" providerId="ADAL" clId="{90CAD2EB-C547-42C3-9F1F-0B5E34014355}" dt="2026-10-21T16:59:12.704" v="22" actId="20577"/>
        <pc:sldMkLst>
          <pc:docMk/>
          <pc:sldMk cId="0" sldId="260"/>
        </pc:sldMkLst>
        <pc:spChg chg="mod">
          <ac:chgData name="Shan" userId="8eddc4f8-40a1-49ff-9eca-35f95811660b" providerId="ADAL" clId="{90CAD2EB-C547-42C3-9F1F-0B5E34014355}" dt="2026-10-21T16:59:12.704" v="22" actId="20577"/>
          <ac:spMkLst>
            <pc:docMk/>
            <pc:sldMk cId="0" sldId="260"/>
            <ac:spMk id="2" creationId="{00000000-0000-0000-0000-000000000000}"/>
          </ac:spMkLst>
        </pc:spChg>
        <pc:spChg chg="del">
          <ac:chgData name="Shan" userId="8eddc4f8-40a1-49ff-9eca-35f95811660b" providerId="ADAL" clId="{90CAD2EB-C547-42C3-9F1F-0B5E34014355}" dt="2026-10-21T16:31:22.526" v="0" actId="478"/>
          <ac:spMkLst>
            <pc:docMk/>
            <pc:sldMk cId="0" sldId="260"/>
            <ac:spMk id="3" creationId="{00000000-0000-0000-0000-000000000000}"/>
          </ac:spMkLst>
        </pc:spChg>
        <pc:spChg chg="mod">
          <ac:chgData name="Shan" userId="8eddc4f8-40a1-49ff-9eca-35f95811660b" providerId="ADAL" clId="{90CAD2EB-C547-42C3-9F1F-0B5E34014355}" dt="2026-10-21T16:32:10.919" v="10" actId="164"/>
          <ac:spMkLst>
            <pc:docMk/>
            <pc:sldMk cId="0" sldId="260"/>
            <ac:spMk id="5" creationId="{00000000-0000-0000-0000-000000000000}"/>
          </ac:spMkLst>
        </pc:spChg>
        <pc:spChg chg="mod">
          <ac:chgData name="Shan" userId="8eddc4f8-40a1-49ff-9eca-35f95811660b" providerId="ADAL" clId="{90CAD2EB-C547-42C3-9F1F-0B5E34014355}" dt="2026-10-21T16:32:10.919" v="10" actId="164"/>
          <ac:spMkLst>
            <pc:docMk/>
            <pc:sldMk cId="0" sldId="260"/>
            <ac:spMk id="7" creationId="{00000000-0000-0000-0000-000000000000}"/>
          </ac:spMkLst>
        </pc:spChg>
        <pc:spChg chg="add del mod">
          <ac:chgData name="Shan" userId="8eddc4f8-40a1-49ff-9eca-35f95811660b" providerId="ADAL" clId="{90CAD2EB-C547-42C3-9F1F-0B5E34014355}" dt="2026-10-21T16:31:41.022" v="5" actId="478"/>
          <ac:spMkLst>
            <pc:docMk/>
            <pc:sldMk cId="0" sldId="260"/>
            <ac:spMk id="11" creationId="{A79637A5-DB8E-C717-908F-F79BCDF44654}"/>
          </ac:spMkLst>
        </pc:spChg>
        <pc:grpChg chg="add mod">
          <ac:chgData name="Shan" userId="8eddc4f8-40a1-49ff-9eca-35f95811660b" providerId="ADAL" clId="{90CAD2EB-C547-42C3-9F1F-0B5E34014355}" dt="2026-10-21T16:59:05.868" v="12" actId="1076"/>
          <ac:grpSpMkLst>
            <pc:docMk/>
            <pc:sldMk cId="0" sldId="260"/>
            <ac:grpSpMk id="12" creationId="{02CC949A-F025-BDE3-35E4-1AB388A675A6}"/>
          </ac:grpSpMkLst>
        </pc:grpChg>
        <pc:graphicFrameChg chg="del">
          <ac:chgData name="Shan" userId="8eddc4f8-40a1-49ff-9eca-35f95811660b" providerId="ADAL" clId="{90CAD2EB-C547-42C3-9F1F-0B5E34014355}" dt="2026-10-21T16:31:22.526" v="0" actId="478"/>
          <ac:graphicFrameMkLst>
            <pc:docMk/>
            <pc:sldMk cId="0" sldId="260"/>
            <ac:graphicFrameMk id="4" creationId="{00000000-0000-0000-0000-000000000000}"/>
          </ac:graphicFrameMkLst>
        </pc:graphicFrameChg>
        <pc:picChg chg="mod">
          <ac:chgData name="Shan" userId="8eddc4f8-40a1-49ff-9eca-35f95811660b" providerId="ADAL" clId="{90CAD2EB-C547-42C3-9F1F-0B5E34014355}" dt="2026-10-21T16:32:10.919" v="10" actId="164"/>
          <ac:picMkLst>
            <pc:docMk/>
            <pc:sldMk cId="0" sldId="260"/>
            <ac:picMk id="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2317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10 seconds. We are Team 12, Future Coders. Our product is CareQueue: digital hospital tokens with a live Now-Serving display and wait estimates. Sam Austin is our BA, Nishandhini our UI/UX designer, Ashik Rasool our developer and Rogasree our QA.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seconds. Meet Ravi, our MRD persona: he stands at the counter for 30 to 40 minutes because nobody can tell him whose turn it is or how long he will wait. Today clinics use paper slips and call names aloud: there is no visible order and no wait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10 seconds. Our one insight: patients need to see the queue, not just stand in it. Evidence: the problem statement names both gaps, and the alternatives we compared show no wait time. Assumption we could not verify: that clinics have a PC and a TV, and that patients trust a live estimate.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20 seconds. We built our three PRD Must-Haves: ordered digital tokens, Call Next with a live Now-Serving display, and a wait estimate that learns from real service times. The display updates in under 2 seconds; we measured 28 ms, and 37 automated tests pass. We cut a server and database, QR phone tracking and voice announcements on purpose, to finish a working demo in 1.5 days. We also added Send to Billing, so a patient moves from their department straight into the Billing queue.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two minutes. Ashik drives, Sam narrates. 1) Sign in as a patient and get a token. 2) Sign out, sign in as receptionist with PIN 1234, press Call Next. 3) Open the display: the token is now serving, the next tokens show their wait. 4) Skip and Recall. 5) Send a served patient to Billing and show the new B token on the display. Note: one browser holds one sign-in at a time. If the live app fails, play CareQueue-backup-demo.webm (in docs/demo of our repo) straight away.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seconds. The prompt that helped most told the AI to run every feature through BA, design, development and QA, and to never mark a task done without test evidence. We used Claude Code with the test-driven-development, webapp-testing and design-taste-frontend skills. What it got wrong: its first token page skipped Call Next and the display, and added a doctor field our PRD had ruled out; we caught that with a traceability check. We rebuilt story by story, tests first, and 37 tests now pass.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a:ln/>
        </p:spPr>
        <p:txBody>
          <a:bodyPr wrap="square" lIns="0" tIns="0" rIns="0" bIns="0" rtlCol="0" anchor="t"/>
          <a:lstStyle>
            <a:lvl1pPr marL="0" indent="0" algn="l">
              <a:lnSpc>
                <a:spcPct val="115000"/>
              </a:lnSpc>
              <a:buNone/>
              <a:defRPr lang="en-US" sz="3200" dirty="0">
                <a:solidFill>
                  <a:srgbClr val="17154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a:ln/>
        </p:spPr>
        <p:txBody>
          <a:bodyPr wrap="square" lIns="0" tIns="0" rIns="0" bIns="0" rtlCol="0" anchor="t"/>
          <a:lstStyle>
            <a:lvl1pPr marL="0" indent="0" algn="l">
              <a:lnSpc>
                <a:spcPct val="140000"/>
              </a:lnSpc>
              <a:buNone/>
              <a:defRPr lang="en-US" sz="1600" dirty="0">
                <a:solidFill>
                  <a:srgbClr val="17154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a:ln/>
        </p:spPr>
        <p:txBody>
          <a:bodyPr wrap="square" lIns="0" tIns="0" rIns="0" bIns="0" rtlCol="0" anchor="t"/>
          <a:lstStyle>
            <a:lvl1pPr marL="0" indent="0" algn="l">
              <a:lnSpc>
                <a:spcPct val="115000"/>
              </a:lnSpc>
              <a:buNone/>
              <a:defRPr lang="en-US" sz="3200" dirty="0">
                <a:solidFill>
                  <a:srgbClr val="17154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a:ln/>
        </p:spPr>
        <p:txBody>
          <a:bodyPr wrap="square" lIns="0" tIns="0" rIns="0" bIns="0" rtlCol="0" anchor="t"/>
          <a:lstStyle>
            <a:lvl1pPr marL="0" indent="0" algn="l">
              <a:lnSpc>
                <a:spcPct val="140000"/>
              </a:lnSpc>
              <a:buNone/>
              <a:defRPr lang="en-US" sz="1600" dirty="0">
                <a:solidFill>
                  <a:srgbClr val="17154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54A"/>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154A"/>
              </a:gs>
              <a:gs pos="60000">
                <a:srgbClr val="262381"/>
              </a:gs>
              <a:gs pos="100000">
                <a:srgbClr val="312F92"/>
              </a:gs>
            </a:gsLst>
            <a:lin ang="2700000" scaled="0"/>
          </a:gradFill>
          <a:ln/>
        </p:spPr>
        <p:txBody>
          <a:bodyPr/>
          <a:lstStyle/>
          <a:p>
            <a:endParaRPr lang="en-IN"/>
          </a:p>
        </p:txBody>
      </p:sp>
      <p:sp>
        <p:nvSpPr>
          <p:cNvPr id="3" name="Shape 1"/>
          <p:cNvSpPr/>
          <p:nvPr/>
        </p:nvSpPr>
        <p:spPr>
          <a:xfrm>
            <a:off x="9017000" y="698500"/>
            <a:ext cx="2286000" cy="2286000"/>
          </a:xfrm>
          <a:prstGeom prst="roundRect">
            <a:avLst>
              <a:gd name="adj" fmla="val 50000"/>
            </a:avLst>
          </a:prstGeom>
          <a:gradFill rotWithShape="1">
            <a:gsLst>
              <a:gs pos="0">
                <a:srgbClr val="FFB066">
                  <a:alpha val="95000"/>
                </a:srgbClr>
              </a:gs>
              <a:gs pos="55000">
                <a:srgbClr val="F8821E">
                  <a:alpha val="95000"/>
                </a:srgbClr>
              </a:gs>
              <a:gs pos="100000">
                <a:srgbClr val="D9620A">
                  <a:alpha val="95000"/>
                </a:srgbClr>
              </a:gs>
            </a:gsLst>
            <a:path path="circle">
              <a:fillToRect l="35000" t="35000" r="65000" b="65000"/>
            </a:path>
          </a:gradFill>
          <a:ln/>
        </p:spPr>
        <p:txBody>
          <a:bodyPr/>
          <a:lstStyle/>
          <a:p>
            <a:endParaRPr lang="en-IN"/>
          </a:p>
        </p:txBody>
      </p:sp>
      <p:sp>
        <p:nvSpPr>
          <p:cNvPr id="4" name="Shape 2"/>
          <p:cNvSpPr/>
          <p:nvPr/>
        </p:nvSpPr>
        <p:spPr>
          <a:xfrm>
            <a:off x="812767" y="711150"/>
            <a:ext cx="2120801" cy="736534"/>
          </a:xfrm>
          <a:prstGeom prst="roundRect">
            <a:avLst>
              <a:gd name="adj" fmla="val 15519"/>
            </a:avLst>
          </a:prstGeom>
          <a:solidFill>
            <a:srgbClr val="FBF8F2"/>
          </a:solidFill>
          <a:ln/>
        </p:spPr>
        <p:txBody>
          <a:bodyPr/>
          <a:lstStyle/>
          <a:p>
            <a:endParaRPr lang="en-IN"/>
          </a:p>
        </p:txBody>
      </p:sp>
      <p:pic>
        <p:nvPicPr>
          <p:cNvPr id="5" name="Image 0" descr="JJ College of Engineering and Technology logo"/>
          <p:cNvPicPr>
            <a:picLocks noChangeAspect="1"/>
          </p:cNvPicPr>
          <p:nvPr/>
        </p:nvPicPr>
        <p:blipFill>
          <a:blip r:embed="rId3"/>
          <a:srcRect t="-283" b="-283"/>
          <a:stretch/>
        </p:blipFill>
        <p:spPr>
          <a:xfrm>
            <a:off x="952417" y="800034"/>
            <a:ext cx="1841500" cy="558767"/>
          </a:xfrm>
          <a:prstGeom prst="rect">
            <a:avLst/>
          </a:prstGeom>
        </p:spPr>
      </p:pic>
      <p:sp>
        <p:nvSpPr>
          <p:cNvPr id="6" name="Text 3"/>
          <p:cNvSpPr/>
          <p:nvPr/>
        </p:nvSpPr>
        <p:spPr>
          <a:xfrm>
            <a:off x="812767" y="2638309"/>
            <a:ext cx="7848600" cy="256497"/>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B066"/>
                </a:solidFill>
                <a:latin typeface="Arial" pitchFamily="34" charset="0"/>
                <a:ea typeface="Arial" pitchFamily="34" charset="-122"/>
                <a:cs typeface="Arial" pitchFamily="34" charset="-120"/>
              </a:rPr>
              <a:t>AI-PDLC HACKATHON · TEAM 12</a:t>
            </a:r>
            <a:endParaRPr lang="en-US" sz="1300" dirty="0"/>
          </a:p>
        </p:txBody>
      </p:sp>
      <p:sp>
        <p:nvSpPr>
          <p:cNvPr id="7" name="Text 4"/>
          <p:cNvSpPr>
            <a:spLocks noGrp="1"/>
          </p:cNvSpPr>
          <p:nvPr>
            <p:ph type="title"/>
          </p:nvPr>
        </p:nvSpPr>
        <p:spPr>
          <a:xfrm>
            <a:off x="812767" y="2996406"/>
            <a:ext cx="7848600" cy="685783"/>
          </a:xfrm>
          <a:prstGeom prst="rect">
            <a:avLst/>
          </a:prstGeom>
          <a:noFill/>
          <a:ln/>
        </p:spPr>
        <p:txBody>
          <a:bodyPr wrap="square" lIns="0" tIns="0" rIns="0" bIns="0" rtlCol="0" anchor="t">
            <a:normAutofit/>
          </a:bodyPr>
          <a:lstStyle/>
          <a:p>
            <a:pPr marL="0" indent="0" algn="l">
              <a:lnSpc>
                <a:spcPts val="5200"/>
              </a:lnSpc>
              <a:buNone/>
            </a:pPr>
            <a:r>
              <a:rPr lang="en-US" sz="5200" b="1" i="0" dirty="0">
                <a:solidFill>
                  <a:srgbClr val="FBF8F2"/>
                </a:solidFill>
                <a:latin typeface="Arial" pitchFamily="34" charset="0"/>
                <a:ea typeface="Arial" pitchFamily="34" charset="-122"/>
                <a:cs typeface="Arial" pitchFamily="34" charset="-120"/>
              </a:rPr>
              <a:t>Future Coders</a:t>
            </a:r>
            <a:endParaRPr lang="en-US" sz="5200" dirty="0"/>
          </a:p>
        </p:txBody>
      </p:sp>
      <p:sp>
        <p:nvSpPr>
          <p:cNvPr id="8" name="Text 5"/>
          <p:cNvSpPr/>
          <p:nvPr/>
        </p:nvSpPr>
        <p:spPr>
          <a:xfrm>
            <a:off x="812767" y="3783790"/>
            <a:ext cx="7848600" cy="316772"/>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D6D3F0"/>
                </a:solidFill>
                <a:latin typeface="Arial" pitchFamily="34" charset="0"/>
                <a:ea typeface="Arial" pitchFamily="34" charset="-122"/>
                <a:cs typeface="Arial" pitchFamily="34" charset="-120"/>
              </a:rPr>
              <a:t>CareQueue: hospital tokens, live Now-Serving display, wait estimates</a:t>
            </a:r>
            <a:endParaRPr lang="en-US" sz="1700" dirty="0"/>
          </a:p>
        </p:txBody>
      </p:sp>
      <p:sp>
        <p:nvSpPr>
          <p:cNvPr id="9" name="Shape 6"/>
          <p:cNvSpPr/>
          <p:nvPr/>
        </p:nvSpPr>
        <p:spPr>
          <a:xfrm>
            <a:off x="812767" y="5265704"/>
            <a:ext cx="2546366" cy="779529"/>
          </a:xfrm>
          <a:prstGeom prst="roundRect">
            <a:avLst>
              <a:gd name="adj" fmla="val 16292"/>
            </a:avLst>
          </a:prstGeom>
          <a:solidFill>
            <a:srgbClr val="26235E"/>
          </a:solidFill>
          <a:ln/>
        </p:spPr>
        <p:txBody>
          <a:bodyPr/>
          <a:lstStyle/>
          <a:p>
            <a:endParaRPr lang="en-IN"/>
          </a:p>
        </p:txBody>
      </p:sp>
      <p:sp>
        <p:nvSpPr>
          <p:cNvPr id="10" name="Text 7"/>
          <p:cNvSpPr/>
          <p:nvPr/>
        </p:nvSpPr>
        <p:spPr>
          <a:xfrm>
            <a:off x="977801"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BA</a:t>
            </a:r>
            <a:endParaRPr lang="en-US" sz="1200" dirty="0"/>
          </a:p>
        </p:txBody>
      </p:sp>
      <p:sp>
        <p:nvSpPr>
          <p:cNvPr id="11" name="Text 8"/>
          <p:cNvSpPr/>
          <p:nvPr/>
        </p:nvSpPr>
        <p:spPr>
          <a:xfrm>
            <a:off x="977801"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Sam Austin</a:t>
            </a:r>
            <a:endParaRPr lang="en-US" sz="1400" dirty="0"/>
          </a:p>
        </p:txBody>
      </p:sp>
      <p:sp>
        <p:nvSpPr>
          <p:cNvPr id="12" name="Shape 9"/>
          <p:cNvSpPr/>
          <p:nvPr/>
        </p:nvSpPr>
        <p:spPr>
          <a:xfrm>
            <a:off x="3486133" y="5265704"/>
            <a:ext cx="2546366" cy="779529"/>
          </a:xfrm>
          <a:prstGeom prst="roundRect">
            <a:avLst>
              <a:gd name="adj" fmla="val 16292"/>
            </a:avLst>
          </a:prstGeom>
          <a:solidFill>
            <a:srgbClr val="26235E"/>
          </a:solidFill>
          <a:ln/>
        </p:spPr>
        <p:txBody>
          <a:bodyPr/>
          <a:lstStyle/>
          <a:p>
            <a:endParaRPr lang="en-IN"/>
          </a:p>
        </p:txBody>
      </p:sp>
      <p:sp>
        <p:nvSpPr>
          <p:cNvPr id="13" name="Text 10"/>
          <p:cNvSpPr/>
          <p:nvPr/>
        </p:nvSpPr>
        <p:spPr>
          <a:xfrm>
            <a:off x="3651167"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UI/UX</a:t>
            </a:r>
            <a:endParaRPr lang="en-US" sz="1200" dirty="0"/>
          </a:p>
        </p:txBody>
      </p:sp>
      <p:sp>
        <p:nvSpPr>
          <p:cNvPr id="14" name="Text 11"/>
          <p:cNvSpPr/>
          <p:nvPr/>
        </p:nvSpPr>
        <p:spPr>
          <a:xfrm>
            <a:off x="3651167"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Nishandhini</a:t>
            </a:r>
            <a:endParaRPr lang="en-US" sz="1400" dirty="0"/>
          </a:p>
        </p:txBody>
      </p:sp>
      <p:sp>
        <p:nvSpPr>
          <p:cNvPr id="15" name="Shape 12"/>
          <p:cNvSpPr/>
          <p:nvPr/>
        </p:nvSpPr>
        <p:spPr>
          <a:xfrm>
            <a:off x="6159500" y="5265704"/>
            <a:ext cx="2546366" cy="779529"/>
          </a:xfrm>
          <a:prstGeom prst="roundRect">
            <a:avLst>
              <a:gd name="adj" fmla="val 16292"/>
            </a:avLst>
          </a:prstGeom>
          <a:solidFill>
            <a:srgbClr val="26235E"/>
          </a:solidFill>
          <a:ln/>
        </p:spPr>
        <p:txBody>
          <a:bodyPr/>
          <a:lstStyle/>
          <a:p>
            <a:endParaRPr lang="en-IN"/>
          </a:p>
        </p:txBody>
      </p:sp>
      <p:sp>
        <p:nvSpPr>
          <p:cNvPr id="16" name="Text 13"/>
          <p:cNvSpPr/>
          <p:nvPr/>
        </p:nvSpPr>
        <p:spPr>
          <a:xfrm>
            <a:off x="6324534"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Dev</a:t>
            </a:r>
            <a:endParaRPr lang="en-US" sz="1200" dirty="0"/>
          </a:p>
        </p:txBody>
      </p:sp>
      <p:sp>
        <p:nvSpPr>
          <p:cNvPr id="17" name="Text 14"/>
          <p:cNvSpPr/>
          <p:nvPr/>
        </p:nvSpPr>
        <p:spPr>
          <a:xfrm>
            <a:off x="6324534"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Ashik Rasool</a:t>
            </a:r>
            <a:endParaRPr lang="en-US" sz="1400" dirty="0"/>
          </a:p>
        </p:txBody>
      </p:sp>
      <p:sp>
        <p:nvSpPr>
          <p:cNvPr id="18" name="Shape 15"/>
          <p:cNvSpPr/>
          <p:nvPr/>
        </p:nvSpPr>
        <p:spPr>
          <a:xfrm>
            <a:off x="8832866" y="5265704"/>
            <a:ext cx="2546366" cy="779529"/>
          </a:xfrm>
          <a:prstGeom prst="roundRect">
            <a:avLst>
              <a:gd name="adj" fmla="val 16292"/>
            </a:avLst>
          </a:prstGeom>
          <a:solidFill>
            <a:srgbClr val="26235E"/>
          </a:solidFill>
          <a:ln/>
        </p:spPr>
        <p:txBody>
          <a:bodyPr/>
          <a:lstStyle/>
          <a:p>
            <a:endParaRPr lang="en-IN"/>
          </a:p>
        </p:txBody>
      </p:sp>
      <p:sp>
        <p:nvSpPr>
          <p:cNvPr id="19" name="Text 16"/>
          <p:cNvSpPr/>
          <p:nvPr/>
        </p:nvSpPr>
        <p:spPr>
          <a:xfrm>
            <a:off x="8997900"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QA</a:t>
            </a:r>
            <a:endParaRPr lang="en-US" sz="1200" dirty="0"/>
          </a:p>
        </p:txBody>
      </p:sp>
      <p:sp>
        <p:nvSpPr>
          <p:cNvPr id="20" name="Text 17"/>
          <p:cNvSpPr/>
          <p:nvPr/>
        </p:nvSpPr>
        <p:spPr>
          <a:xfrm>
            <a:off x="8997900"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Rogasree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THE PROBLEM</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Patients queue blind: no current token, no wait time</a:t>
            </a:r>
            <a:endParaRPr lang="en-US" sz="3200" dirty="0"/>
          </a:p>
        </p:txBody>
      </p:sp>
      <p:sp>
        <p:nvSpPr>
          <p:cNvPr id="4" name="Shape 2"/>
          <p:cNvSpPr/>
          <p:nvPr/>
        </p:nvSpPr>
        <p:spPr>
          <a:xfrm>
            <a:off x="812767" y="1782878"/>
            <a:ext cx="3302000" cy="2732484"/>
          </a:xfrm>
          <a:prstGeom prst="roundRect">
            <a:avLst>
              <a:gd name="adj" fmla="val 6507"/>
            </a:avLst>
          </a:prstGeom>
          <a:solidFill>
            <a:srgbClr val="312F92"/>
          </a:solidFill>
          <a:ln/>
        </p:spPr>
        <p:txBody>
          <a:bodyPr/>
          <a:lstStyle/>
          <a:p>
            <a:endParaRPr lang="en-IN"/>
          </a:p>
        </p:txBody>
      </p:sp>
      <p:pic>
        <p:nvPicPr>
          <p:cNvPr id="5" name="Image 0" descr="Users"/>
          <p:cNvPicPr>
            <a:picLocks noChangeAspect="1"/>
          </p:cNvPicPr>
          <p:nvPr/>
        </p:nvPicPr>
        <p:blipFill>
          <a:blip r:embed="rId3"/>
          <a:srcRect/>
          <a:stretch/>
        </p:blipFill>
        <p:spPr>
          <a:xfrm>
            <a:off x="1041301" y="2011412"/>
            <a:ext cx="355534" cy="355534"/>
          </a:xfrm>
          <a:prstGeom prst="rect">
            <a:avLst/>
          </a:prstGeom>
        </p:spPr>
      </p:pic>
      <p:sp>
        <p:nvSpPr>
          <p:cNvPr id="6" name="Text 3"/>
          <p:cNvSpPr/>
          <p:nvPr/>
        </p:nvSpPr>
        <p:spPr>
          <a:xfrm>
            <a:off x="1041301" y="2455829"/>
            <a:ext cx="29302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B066"/>
                </a:solidFill>
                <a:latin typeface="Arial" pitchFamily="34" charset="0"/>
                <a:ea typeface="Arial" pitchFamily="34" charset="-122"/>
                <a:cs typeface="Arial" pitchFamily="34" charset="-120"/>
              </a:rPr>
              <a:t>PERSONA</a:t>
            </a:r>
            <a:endParaRPr lang="en-US" sz="1200" dirty="0"/>
          </a:p>
        </p:txBody>
      </p:sp>
      <p:sp>
        <p:nvSpPr>
          <p:cNvPr id="7" name="Text 4"/>
          <p:cNvSpPr/>
          <p:nvPr/>
        </p:nvSpPr>
        <p:spPr>
          <a:xfrm>
            <a:off x="1041301" y="2758033"/>
            <a:ext cx="2930280" cy="41648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BF8F2"/>
                </a:solidFill>
                <a:latin typeface="Arial" pitchFamily="34" charset="0"/>
                <a:ea typeface="Arial" pitchFamily="34" charset="-122"/>
                <a:cs typeface="Arial" pitchFamily="34" charset="-120"/>
              </a:rPr>
              <a:t>Ravi, office worker</a:t>
            </a:r>
            <a:endParaRPr lang="en-US" sz="2200" dirty="0"/>
          </a:p>
        </p:txBody>
      </p:sp>
      <p:sp>
        <p:nvSpPr>
          <p:cNvPr id="8" name="Text 5"/>
          <p:cNvSpPr/>
          <p:nvPr/>
        </p:nvSpPr>
        <p:spPr>
          <a:xfrm>
            <a:off x="1041301" y="3238004"/>
            <a:ext cx="2930280"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1DFF5"/>
                </a:solidFill>
                <a:latin typeface="Arial" pitchFamily="34" charset="0"/>
                <a:ea typeface="Arial" pitchFamily="34" charset="-122"/>
                <a:cs typeface="Arial" pitchFamily="34" charset="-120"/>
              </a:rPr>
              <a:t>34, before work; stands at the counter so he won’t miss his turn</a:t>
            </a:r>
            <a:endParaRPr lang="en-US" sz="1300" dirty="0"/>
          </a:p>
        </p:txBody>
      </p:sp>
      <p:sp>
        <p:nvSpPr>
          <p:cNvPr id="9" name="Shape 6"/>
          <p:cNvSpPr/>
          <p:nvPr/>
        </p:nvSpPr>
        <p:spPr>
          <a:xfrm>
            <a:off x="4324267" y="1789228"/>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0" name="Text 7"/>
          <p:cNvSpPr/>
          <p:nvPr/>
        </p:nvSpPr>
        <p:spPr>
          <a:xfrm>
            <a:off x="4506268" y="1945845"/>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Pain point 1</a:t>
            </a:r>
            <a:endParaRPr lang="en-US" sz="1200" dirty="0"/>
          </a:p>
        </p:txBody>
      </p:sp>
      <p:sp>
        <p:nvSpPr>
          <p:cNvPr id="11" name="Text 8"/>
          <p:cNvSpPr/>
          <p:nvPr/>
        </p:nvSpPr>
        <p:spPr>
          <a:xfrm>
            <a:off x="4506268" y="2197199"/>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“I stand at the counter because I can’t tell whose turn it is.”</a:t>
            </a:r>
            <a:endParaRPr lang="en-US" sz="1400" dirty="0"/>
          </a:p>
        </p:txBody>
      </p:sp>
      <p:sp>
        <p:nvSpPr>
          <p:cNvPr id="12" name="Shape 9"/>
          <p:cNvSpPr/>
          <p:nvPr/>
        </p:nvSpPr>
        <p:spPr>
          <a:xfrm>
            <a:off x="4324267" y="2742389"/>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3" name="Text 10"/>
          <p:cNvSpPr/>
          <p:nvPr/>
        </p:nvSpPr>
        <p:spPr>
          <a:xfrm>
            <a:off x="4506268" y="2899006"/>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Pain point 2</a:t>
            </a:r>
            <a:endParaRPr lang="en-US" sz="1200" dirty="0"/>
          </a:p>
        </p:txBody>
      </p:sp>
      <p:sp>
        <p:nvSpPr>
          <p:cNvPr id="14" name="Text 11"/>
          <p:cNvSpPr/>
          <p:nvPr/>
        </p:nvSpPr>
        <p:spPr>
          <a:xfrm>
            <a:off x="4506268" y="3150360"/>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30–40 minutes on his feet, a late start at work, and stress</a:t>
            </a:r>
            <a:endParaRPr lang="en-US" sz="1400" dirty="0"/>
          </a:p>
        </p:txBody>
      </p:sp>
      <p:sp>
        <p:nvSpPr>
          <p:cNvPr id="15" name="Shape 12"/>
          <p:cNvSpPr/>
          <p:nvPr/>
        </p:nvSpPr>
        <p:spPr>
          <a:xfrm>
            <a:off x="4324267" y="3695551"/>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6" name="Text 13"/>
          <p:cNvSpPr/>
          <p:nvPr/>
        </p:nvSpPr>
        <p:spPr>
          <a:xfrm>
            <a:off x="4506268" y="3852168"/>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What they do today</a:t>
            </a:r>
            <a:endParaRPr lang="en-US" sz="1200" dirty="0"/>
          </a:p>
        </p:txBody>
      </p:sp>
      <p:sp>
        <p:nvSpPr>
          <p:cNvPr id="17" name="Text 14"/>
          <p:cNvSpPr/>
          <p:nvPr/>
        </p:nvSpPr>
        <p:spPr>
          <a:xfrm>
            <a:off x="4506268" y="4103522"/>
            <a:ext cx="6885154" cy="27427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Paper slips and names called aloud: no visible order, no wait time, names missed</a:t>
            </a:r>
            <a:endParaRPr lang="en-US" sz="1400" dirty="0"/>
          </a:p>
        </p:txBody>
      </p:sp>
      <p:sp>
        <p:nvSpPr>
          <p:cNvPr id="18" name="Text 15"/>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Future Coders · JJCET AI-PDLC Hackathon</a:t>
            </a:r>
            <a:endParaRPr lang="en-US" sz="1200" dirty="0"/>
          </a:p>
        </p:txBody>
      </p:sp>
      <p:sp>
        <p:nvSpPr>
          <p:cNvPr id="19" name="Text 16"/>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821E"/>
        </a:solidFill>
        <a:effectLst/>
      </p:bgPr>
    </p:bg>
    <p:spTree>
      <p:nvGrpSpPr>
        <p:cNvPr id="1" name=""/>
        <p:cNvGrpSpPr/>
        <p:nvPr/>
      </p:nvGrpSpPr>
      <p:grpSpPr>
        <a:xfrm>
          <a:off x="0" y="0"/>
          <a:ext cx="0" cy="0"/>
          <a:chOff x="0" y="0"/>
          <a:chExt cx="0" cy="0"/>
        </a:xfrm>
      </p:grpSpPr>
      <p:sp>
        <p:nvSpPr>
          <p:cNvPr id="2" name="Text 0"/>
          <p:cNvSpPr/>
          <p:nvPr/>
        </p:nvSpPr>
        <p:spPr>
          <a:xfrm>
            <a:off x="812767" y="2014305"/>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154A"/>
                </a:solidFill>
                <a:latin typeface="Arial" pitchFamily="34" charset="0"/>
                <a:ea typeface="Arial" pitchFamily="34" charset="-122"/>
                <a:cs typeface="Arial" pitchFamily="34" charset="-120"/>
              </a:rPr>
              <a:t>WHAT OUR MRD TAUGHT US</a:t>
            </a:r>
            <a:endParaRPr lang="en-US" sz="1200" dirty="0"/>
          </a:p>
        </p:txBody>
      </p:sp>
      <p:sp>
        <p:nvSpPr>
          <p:cNvPr id="3" name="Text 1"/>
          <p:cNvSpPr>
            <a:spLocks noGrp="1"/>
          </p:cNvSpPr>
          <p:nvPr>
            <p:ph type="title"/>
          </p:nvPr>
        </p:nvSpPr>
        <p:spPr>
          <a:xfrm>
            <a:off x="812767" y="2481625"/>
            <a:ext cx="9810750" cy="1142934"/>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17154A"/>
                </a:solidFill>
                <a:latin typeface="Arial" pitchFamily="34" charset="0"/>
                <a:ea typeface="Arial" pitchFamily="34" charset="-122"/>
                <a:cs typeface="Arial" pitchFamily="34" charset="-120"/>
              </a:rPr>
              <a:t>“Patients need to see the queue, not just stand in it”</a:t>
            </a:r>
            <a:endParaRPr lang="en-US" sz="4000" dirty="0"/>
          </a:p>
        </p:txBody>
      </p:sp>
      <p:sp>
        <p:nvSpPr>
          <p:cNvPr id="4" name="Shape 2"/>
          <p:cNvSpPr/>
          <p:nvPr/>
        </p:nvSpPr>
        <p:spPr>
          <a:xfrm>
            <a:off x="812767" y="3853160"/>
            <a:ext cx="5207000" cy="787218"/>
          </a:xfrm>
          <a:prstGeom prst="roundRect">
            <a:avLst>
              <a:gd name="adj" fmla="val 16133"/>
            </a:avLst>
          </a:prstGeom>
          <a:solidFill>
            <a:srgbClr val="17154A"/>
          </a:solidFill>
          <a:ln/>
        </p:spPr>
        <p:txBody>
          <a:bodyPr/>
          <a:lstStyle/>
          <a:p>
            <a:endParaRPr lang="en-IN"/>
          </a:p>
        </p:txBody>
      </p:sp>
      <p:sp>
        <p:nvSpPr>
          <p:cNvPr id="5" name="Text 3"/>
          <p:cNvSpPr/>
          <p:nvPr/>
        </p:nvSpPr>
        <p:spPr>
          <a:xfrm>
            <a:off x="990534" y="4005543"/>
            <a:ext cx="499701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Evidence</a:t>
            </a:r>
            <a:endParaRPr lang="en-US" sz="1200" dirty="0"/>
          </a:p>
        </p:txBody>
      </p:sp>
      <p:sp>
        <p:nvSpPr>
          <p:cNvPr id="6" name="Text 4"/>
          <p:cNvSpPr/>
          <p:nvPr/>
        </p:nvSpPr>
        <p:spPr>
          <a:xfrm>
            <a:off x="990534" y="4256897"/>
            <a:ext cx="4997010"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8F2"/>
                </a:solidFill>
                <a:latin typeface="Arial" pitchFamily="34" charset="0"/>
                <a:ea typeface="Arial" pitchFamily="34" charset="-122"/>
                <a:cs typeface="Arial" pitchFamily="34" charset="-120"/>
              </a:rPr>
              <a:t>Slips and token machines show no wait time (MRD, section 4)</a:t>
            </a:r>
            <a:endParaRPr lang="en-US" sz="1300" dirty="0"/>
          </a:p>
        </p:txBody>
      </p:sp>
      <p:sp>
        <p:nvSpPr>
          <p:cNvPr id="7" name="Shape 5"/>
          <p:cNvSpPr/>
          <p:nvPr/>
        </p:nvSpPr>
        <p:spPr>
          <a:xfrm>
            <a:off x="6172150" y="3853160"/>
            <a:ext cx="5207083" cy="787218"/>
          </a:xfrm>
          <a:prstGeom prst="roundRect">
            <a:avLst>
              <a:gd name="adj" fmla="val 16133"/>
            </a:avLst>
          </a:prstGeom>
          <a:solidFill>
            <a:srgbClr val="17154A"/>
          </a:solidFill>
          <a:ln/>
        </p:spPr>
        <p:txBody>
          <a:bodyPr/>
          <a:lstStyle/>
          <a:p>
            <a:endParaRPr lang="en-IN"/>
          </a:p>
        </p:txBody>
      </p:sp>
      <p:sp>
        <p:nvSpPr>
          <p:cNvPr id="8" name="Text 6"/>
          <p:cNvSpPr/>
          <p:nvPr/>
        </p:nvSpPr>
        <p:spPr>
          <a:xfrm>
            <a:off x="6349917" y="4005543"/>
            <a:ext cx="4997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Assumption</a:t>
            </a:r>
            <a:endParaRPr lang="en-US" sz="1200" dirty="0"/>
          </a:p>
        </p:txBody>
      </p:sp>
      <p:sp>
        <p:nvSpPr>
          <p:cNvPr id="9" name="Text 7"/>
          <p:cNvSpPr/>
          <p:nvPr/>
        </p:nvSpPr>
        <p:spPr>
          <a:xfrm>
            <a:off x="6349917" y="4256897"/>
            <a:ext cx="4997095"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F8F2"/>
                </a:solidFill>
                <a:latin typeface="Arial" pitchFamily="34" charset="0"/>
                <a:ea typeface="Arial" pitchFamily="34" charset="-122"/>
                <a:cs typeface="Arial" pitchFamily="34" charset="-120"/>
              </a:rPr>
              <a:t>Patients trust a live wait estimate (MRD A6, not yet tested)</a:t>
            </a:r>
            <a:endParaRPr lang="en-US" sz="1300" dirty="0"/>
          </a:p>
        </p:txBody>
      </p:sp>
      <p:sp>
        <p:nvSpPr>
          <p:cNvPr id="10" name="Text 8"/>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1A08"/>
                </a:solidFill>
                <a:latin typeface="Arial" pitchFamily="34" charset="0"/>
                <a:ea typeface="Arial" pitchFamily="34" charset="-122"/>
                <a:cs typeface="Arial" pitchFamily="34" charset="-120"/>
              </a:rPr>
              <a:t>Future Coders · JJCET AI-PDLC Hackathon</a:t>
            </a:r>
            <a:endParaRPr lang="en-US" sz="1200" dirty="0"/>
          </a:p>
        </p:txBody>
      </p:sp>
      <p:sp>
        <p:nvSpPr>
          <p:cNvPr id="11" name="Text 9"/>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2B1A08"/>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PRODUCT DECISIONS</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What we built, and what we cut</a:t>
            </a:r>
            <a:endParaRPr lang="en-US" sz="3200" dirty="0"/>
          </a:p>
        </p:txBody>
      </p:sp>
      <p:sp>
        <p:nvSpPr>
          <p:cNvPr id="4" name="Shape 2"/>
          <p:cNvSpPr/>
          <p:nvPr/>
        </p:nvSpPr>
        <p:spPr>
          <a:xfrm>
            <a:off x="812767" y="1782877"/>
            <a:ext cx="5171033" cy="2078385"/>
          </a:xfrm>
          <a:prstGeom prst="roundRect">
            <a:avLst>
              <a:gd name="adj" fmla="val 8555"/>
            </a:avLst>
          </a:prstGeom>
          <a:solidFill>
            <a:srgbClr val="312F92"/>
          </a:solidFill>
          <a:ln/>
        </p:spPr>
        <p:txBody>
          <a:bodyPr/>
          <a:lstStyle/>
          <a:p>
            <a:endParaRPr lang="en-IN"/>
          </a:p>
        </p:txBody>
      </p:sp>
      <p:sp>
        <p:nvSpPr>
          <p:cNvPr id="5" name="Text 3"/>
          <p:cNvSpPr/>
          <p:nvPr/>
        </p:nvSpPr>
        <p:spPr>
          <a:xfrm>
            <a:off x="1041301" y="2011412"/>
            <a:ext cx="4855384" cy="256497"/>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FB066"/>
                </a:solidFill>
                <a:latin typeface="Arial" pitchFamily="34" charset="0"/>
                <a:ea typeface="Arial" pitchFamily="34" charset="-122"/>
                <a:cs typeface="Arial" pitchFamily="34" charset="-120"/>
              </a:rPr>
              <a:t>MUST-HAVE · BUILT</a:t>
            </a:r>
            <a:endParaRPr lang="en-US" sz="1300" dirty="0"/>
          </a:p>
        </p:txBody>
      </p:sp>
      <p:pic>
        <p:nvPicPr>
          <p:cNvPr id="6" name="Image 0" descr="CheckCircle"/>
          <p:cNvPicPr>
            <a:picLocks noChangeAspect="1"/>
          </p:cNvPicPr>
          <p:nvPr/>
        </p:nvPicPr>
        <p:blipFill>
          <a:blip r:embed="rId3"/>
          <a:srcRect/>
          <a:stretch/>
        </p:blipFill>
        <p:spPr>
          <a:xfrm>
            <a:off x="1041301" y="2356776"/>
            <a:ext cx="228534" cy="228534"/>
          </a:xfrm>
          <a:prstGeom prst="rect">
            <a:avLst/>
          </a:prstGeom>
        </p:spPr>
      </p:pic>
      <p:sp>
        <p:nvSpPr>
          <p:cNvPr id="7" name="Text 4"/>
          <p:cNvSpPr/>
          <p:nvPr/>
        </p:nvSpPr>
        <p:spPr>
          <a:xfrm>
            <a:off x="1371368" y="2356776"/>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Digital tokens in order, per department (M1)</a:t>
            </a:r>
            <a:endParaRPr lang="en-US" sz="1400" dirty="0"/>
          </a:p>
        </p:txBody>
      </p:sp>
      <p:pic>
        <p:nvPicPr>
          <p:cNvPr id="8" name="Image 1" descr="CheckCircle"/>
          <p:cNvPicPr>
            <a:picLocks noChangeAspect="1"/>
          </p:cNvPicPr>
          <p:nvPr/>
        </p:nvPicPr>
        <p:blipFill>
          <a:blip r:embed="rId3"/>
          <a:srcRect/>
          <a:stretch/>
        </p:blipFill>
        <p:spPr>
          <a:xfrm>
            <a:off x="1041301" y="2710986"/>
            <a:ext cx="228534" cy="228534"/>
          </a:xfrm>
          <a:prstGeom prst="rect">
            <a:avLst/>
          </a:prstGeom>
        </p:spPr>
      </p:pic>
      <p:sp>
        <p:nvSpPr>
          <p:cNvPr id="9" name="Text 5"/>
          <p:cNvSpPr/>
          <p:nvPr/>
        </p:nvSpPr>
        <p:spPr>
          <a:xfrm>
            <a:off x="1371368" y="2710986"/>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Call Next + live Now-Serving display (M2)</a:t>
            </a:r>
            <a:endParaRPr lang="en-US" sz="1400" dirty="0"/>
          </a:p>
        </p:txBody>
      </p:sp>
      <p:pic>
        <p:nvPicPr>
          <p:cNvPr id="10" name="Image 2" descr="CheckCircle"/>
          <p:cNvPicPr>
            <a:picLocks noChangeAspect="1"/>
          </p:cNvPicPr>
          <p:nvPr/>
        </p:nvPicPr>
        <p:blipFill>
          <a:blip r:embed="rId3"/>
          <a:srcRect/>
          <a:stretch/>
        </p:blipFill>
        <p:spPr>
          <a:xfrm>
            <a:off x="1041301" y="3065197"/>
            <a:ext cx="228534" cy="228534"/>
          </a:xfrm>
          <a:prstGeom prst="rect">
            <a:avLst/>
          </a:prstGeom>
        </p:spPr>
      </p:pic>
      <p:sp>
        <p:nvSpPr>
          <p:cNvPr id="11" name="Text 6"/>
          <p:cNvSpPr/>
          <p:nvPr/>
        </p:nvSpPr>
        <p:spPr>
          <a:xfrm>
            <a:off x="1371368" y="3065197"/>
            <a:ext cx="4515414"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BF8F2"/>
                </a:solidFill>
                <a:latin typeface="Arial" pitchFamily="34" charset="0"/>
                <a:ea typeface="Arial" pitchFamily="34" charset="-122"/>
                <a:cs typeface="Arial" pitchFamily="34" charset="-120"/>
              </a:rPr>
              <a:t>Wait estimate that learns real service times (M3)</a:t>
            </a:r>
            <a:endParaRPr lang="en-US" sz="1400" dirty="0"/>
          </a:p>
        </p:txBody>
      </p:sp>
      <p:sp>
        <p:nvSpPr>
          <p:cNvPr id="12" name="Text 7"/>
          <p:cNvSpPr/>
          <p:nvPr/>
        </p:nvSpPr>
        <p:spPr>
          <a:xfrm>
            <a:off x="1041301" y="3419408"/>
            <a:ext cx="48553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6D3F0"/>
                </a:solidFill>
                <a:latin typeface="Arial" pitchFamily="34" charset="0"/>
                <a:ea typeface="Arial" pitchFamily="34" charset="-122"/>
                <a:cs typeface="Arial" pitchFamily="34" charset="-120"/>
              </a:rPr>
              <a:t>Success metric: display updates in under 2 s (measured 28 ms)</a:t>
            </a:r>
            <a:endParaRPr lang="en-US" sz="1200" dirty="0"/>
          </a:p>
        </p:txBody>
      </p:sp>
      <p:sp>
        <p:nvSpPr>
          <p:cNvPr id="13" name="Shape 8"/>
          <p:cNvSpPr/>
          <p:nvPr/>
        </p:nvSpPr>
        <p:spPr>
          <a:xfrm>
            <a:off x="6193300" y="1789227"/>
            <a:ext cx="5179582" cy="2065685"/>
          </a:xfrm>
          <a:prstGeom prst="roundRect">
            <a:avLst>
              <a:gd name="adj" fmla="val 8300"/>
            </a:avLst>
          </a:prstGeom>
          <a:solidFill>
            <a:srgbClr val="FFFDF9"/>
          </a:solidFill>
          <a:ln w="12700">
            <a:solidFill>
              <a:srgbClr val="E3E0F2"/>
            </a:solidFill>
            <a:prstDash val="solid"/>
          </a:ln>
        </p:spPr>
        <p:txBody>
          <a:bodyPr/>
          <a:lstStyle/>
          <a:p>
            <a:endParaRPr lang="en-IN"/>
          </a:p>
        </p:txBody>
      </p:sp>
      <p:sp>
        <p:nvSpPr>
          <p:cNvPr id="14" name="Text 9"/>
          <p:cNvSpPr/>
          <p:nvPr/>
        </p:nvSpPr>
        <p:spPr>
          <a:xfrm>
            <a:off x="6426067" y="2021994"/>
            <a:ext cx="4855469" cy="256497"/>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A3E05"/>
                </a:solidFill>
                <a:latin typeface="Arial" pitchFamily="34" charset="0"/>
                <a:ea typeface="Arial" pitchFamily="34" charset="-122"/>
                <a:cs typeface="Arial" pitchFamily="34" charset="-120"/>
              </a:rPr>
              <a:t>CUT ON PURPOSE</a:t>
            </a:r>
            <a:endParaRPr lang="en-US" sz="1300" dirty="0"/>
          </a:p>
        </p:txBody>
      </p:sp>
      <p:sp>
        <p:nvSpPr>
          <p:cNvPr id="15" name="Text 10"/>
          <p:cNvSpPr/>
          <p:nvPr/>
        </p:nvSpPr>
        <p:spPr>
          <a:xfrm>
            <a:off x="6426067" y="2367359"/>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Server and database — a browser queue proves the flow</a:t>
            </a:r>
            <a:endParaRPr lang="en-US" sz="1400" dirty="0"/>
          </a:p>
        </p:txBody>
      </p:sp>
      <p:sp>
        <p:nvSpPr>
          <p:cNvPr id="16" name="Text 11"/>
          <p:cNvSpPr/>
          <p:nvPr/>
        </p:nvSpPr>
        <p:spPr>
          <a:xfrm>
            <a:off x="6426067" y="2721570"/>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QR phone tracking — the display and slip cover it</a:t>
            </a:r>
            <a:endParaRPr lang="en-US" sz="1400" dirty="0"/>
          </a:p>
        </p:txBody>
      </p:sp>
      <p:sp>
        <p:nvSpPr>
          <p:cNvPr id="17" name="Text 12"/>
          <p:cNvSpPr/>
          <p:nvPr/>
        </p:nvSpPr>
        <p:spPr>
          <a:xfrm>
            <a:off x="6426067" y="3075781"/>
            <a:ext cx="4855469" cy="26534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7154A"/>
                </a:solidFill>
                <a:latin typeface="Arial" pitchFamily="34" charset="0"/>
                <a:ea typeface="Arial" pitchFamily="34" charset="-122"/>
                <a:cs typeface="Arial" pitchFamily="34" charset="-120"/>
              </a:rPr>
              <a:t>Voice announcement — the large display carries the call</a:t>
            </a:r>
            <a:endParaRPr lang="en-US" sz="1400" dirty="0"/>
          </a:p>
        </p:txBody>
      </p:sp>
      <p:sp>
        <p:nvSpPr>
          <p:cNvPr id="18" name="Text 1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Future Coders · JJCET AI-PDLC Hackathon</a:t>
            </a:r>
            <a:endParaRPr lang="en-US" sz="1200" dirty="0"/>
          </a:p>
        </p:txBody>
      </p:sp>
      <p:sp>
        <p:nvSpPr>
          <p:cNvPr id="19" name="Text 1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54A"/>
        </a:solidFill>
        <a:effectLst/>
      </p:bgPr>
    </p:bg>
    <p:spTree>
      <p:nvGrpSpPr>
        <p:cNvPr id="1" name=""/>
        <p:cNvGrpSpPr/>
        <p:nvPr/>
      </p:nvGrpSpPr>
      <p:grpSpPr>
        <a:xfrm>
          <a:off x="0" y="0"/>
          <a:ext cx="0" cy="0"/>
          <a:chOff x="0" y="0"/>
          <a:chExt cx="0" cy="0"/>
        </a:xfrm>
      </p:grpSpPr>
      <p:sp>
        <p:nvSpPr>
          <p:cNvPr id="2" name="Text 0"/>
          <p:cNvSpPr/>
          <p:nvPr/>
        </p:nvSpPr>
        <p:spPr>
          <a:xfrm>
            <a:off x="812767" y="812766"/>
            <a:ext cx="738241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B066"/>
                </a:solidFill>
                <a:latin typeface="Arial" pitchFamily="34" charset="0"/>
                <a:ea typeface="Arial" pitchFamily="34" charset="-122"/>
                <a:cs typeface="Arial" pitchFamily="34" charset="-120"/>
              </a:rPr>
              <a:t>LIVE DEMO – 15 MIN</a:t>
            </a:r>
            <a:endParaRPr lang="en-US" sz="1200" dirty="0"/>
          </a:p>
        </p:txBody>
      </p:sp>
      <p:grpSp>
        <p:nvGrpSpPr>
          <p:cNvPr id="12" name="Group 11">
            <a:extLst>
              <a:ext uri="{FF2B5EF4-FFF2-40B4-BE49-F238E27FC236}">
                <a16:creationId xmlns:a16="http://schemas.microsoft.com/office/drawing/2014/main" id="{02CC949A-F025-BDE3-35E4-1AB388A675A6}"/>
              </a:ext>
            </a:extLst>
          </p:cNvPr>
          <p:cNvGrpSpPr/>
          <p:nvPr/>
        </p:nvGrpSpPr>
        <p:grpSpPr>
          <a:xfrm>
            <a:off x="726503" y="1482393"/>
            <a:ext cx="10566466" cy="508000"/>
            <a:chOff x="812767" y="4299396"/>
            <a:chExt cx="10566466" cy="508000"/>
          </a:xfrm>
        </p:grpSpPr>
        <p:sp>
          <p:nvSpPr>
            <p:cNvPr id="5" name="Shape 2"/>
            <p:cNvSpPr/>
            <p:nvPr/>
          </p:nvSpPr>
          <p:spPr>
            <a:xfrm>
              <a:off x="812767" y="4299396"/>
              <a:ext cx="10566466" cy="508000"/>
            </a:xfrm>
            <a:prstGeom prst="roundRect">
              <a:avLst>
                <a:gd name="adj" fmla="val 25000"/>
              </a:avLst>
            </a:prstGeom>
            <a:solidFill>
              <a:srgbClr val="F8821E"/>
            </a:solidFill>
            <a:ln/>
          </p:spPr>
          <p:txBody>
            <a:bodyPr/>
            <a:lstStyle/>
            <a:p>
              <a:endParaRPr lang="en-IN"/>
            </a:p>
          </p:txBody>
        </p:sp>
        <p:pic>
          <p:nvPicPr>
            <p:cNvPr id="6" name="Image 0" descr="Play"/>
            <p:cNvPicPr>
              <a:picLocks noChangeAspect="1"/>
            </p:cNvPicPr>
            <p:nvPr/>
          </p:nvPicPr>
          <p:blipFill>
            <a:blip r:embed="rId3"/>
            <a:srcRect/>
            <a:stretch/>
          </p:blipFill>
          <p:spPr>
            <a:xfrm>
              <a:off x="990534" y="4426396"/>
              <a:ext cx="254000" cy="254000"/>
            </a:xfrm>
            <a:prstGeom prst="rect">
              <a:avLst/>
            </a:prstGeom>
          </p:spPr>
        </p:pic>
        <p:sp>
          <p:nvSpPr>
            <p:cNvPr id="7" name="Text 3"/>
            <p:cNvSpPr/>
            <p:nvPr/>
          </p:nvSpPr>
          <p:spPr>
            <a:xfrm>
              <a:off x="1371534" y="4428958"/>
              <a:ext cx="6808787"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54A"/>
                  </a:solidFill>
                  <a:latin typeface="Arial" pitchFamily="34" charset="0"/>
                  <a:ea typeface="Arial" pitchFamily="34" charset="-122"/>
                  <a:cs typeface="Arial" pitchFamily="34" charset="-120"/>
                </a:rPr>
                <a:t>Switch to the app now. Backup recording: CareQueue-backup-demo.webm</a:t>
              </a:r>
              <a:endParaRPr lang="en-US" sz="1400" dirty="0"/>
            </a:p>
          </p:txBody>
        </p:sp>
      </p:grpSp>
      <p:sp>
        <p:nvSpPr>
          <p:cNvPr id="8" name="Text 4"/>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6D6"/>
                </a:solidFill>
                <a:latin typeface="Arial" pitchFamily="34" charset="0"/>
                <a:ea typeface="Arial" pitchFamily="34" charset="-122"/>
                <a:cs typeface="Arial" pitchFamily="34" charset="-120"/>
              </a:rPr>
              <a:t>Future Coders · JJCET AI-PDLC Hackathon</a:t>
            </a:r>
            <a:endParaRPr lang="en-US" sz="1200" dirty="0"/>
          </a:p>
        </p:txBody>
      </p:sp>
      <p:sp>
        <p:nvSpPr>
          <p:cNvPr id="9" name="Text 5"/>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A6D6"/>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HOW WE USED AI</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What worked, what it got wrong, what we changed</a:t>
            </a:r>
            <a:endParaRPr lang="en-US" sz="3200" dirty="0"/>
          </a:p>
        </p:txBody>
      </p:sp>
      <p:sp>
        <p:nvSpPr>
          <p:cNvPr id="4" name="Shape 2"/>
          <p:cNvSpPr/>
          <p:nvPr/>
        </p:nvSpPr>
        <p:spPr>
          <a:xfrm>
            <a:off x="819117" y="1789227"/>
            <a:ext cx="3414894" cy="1522049"/>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5" name="Image 0" descr="ThumbsUp"/>
          <p:cNvPicPr>
            <a:picLocks noChangeAspect="1"/>
          </p:cNvPicPr>
          <p:nvPr/>
        </p:nvPicPr>
        <p:blipFill>
          <a:blip r:embed="rId3"/>
          <a:srcRect/>
          <a:stretch/>
        </p:blipFill>
        <p:spPr>
          <a:xfrm>
            <a:off x="1026501" y="1996610"/>
            <a:ext cx="254000" cy="254000"/>
          </a:xfrm>
          <a:prstGeom prst="rect">
            <a:avLst/>
          </a:prstGeom>
        </p:spPr>
      </p:pic>
      <p:sp>
        <p:nvSpPr>
          <p:cNvPr id="6" name="Text 3"/>
          <p:cNvSpPr/>
          <p:nvPr/>
        </p:nvSpPr>
        <p:spPr>
          <a:xfrm>
            <a:off x="1369384" y="2001655"/>
            <a:ext cx="228957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4A"/>
                </a:solidFill>
                <a:latin typeface="Arial" pitchFamily="34" charset="0"/>
                <a:ea typeface="Arial" pitchFamily="34" charset="-122"/>
                <a:cs typeface="Arial" pitchFamily="34" charset="-120"/>
              </a:rPr>
              <a:t>Prompt that worked</a:t>
            </a:r>
            <a:endParaRPr lang="en-US" sz="1600" dirty="0"/>
          </a:p>
        </p:txBody>
      </p:sp>
      <p:sp>
        <p:nvSpPr>
          <p:cNvPr id="7" name="Text 4"/>
          <p:cNvSpPr/>
          <p:nvPr/>
        </p:nvSpPr>
        <p:spPr>
          <a:xfrm>
            <a:off x="1026501" y="2339494"/>
            <a:ext cx="3090131"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A5A"/>
                </a:solidFill>
                <a:latin typeface="Arial" pitchFamily="34" charset="0"/>
                <a:ea typeface="Arial" pitchFamily="34" charset="-122"/>
                <a:cs typeface="Arial" pitchFamily="34" charset="-120"/>
              </a:rPr>
              <a:t>“No task is done without test evidence”</a:t>
            </a:r>
            <a:endParaRPr lang="en-US" sz="1300" dirty="0"/>
          </a:p>
        </p:txBody>
      </p:sp>
      <p:sp>
        <p:nvSpPr>
          <p:cNvPr id="8" name="Text 5"/>
          <p:cNvSpPr/>
          <p:nvPr/>
        </p:nvSpPr>
        <p:spPr>
          <a:xfrm>
            <a:off x="1026501" y="2659475"/>
            <a:ext cx="309013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Tool / skill: Claude Code + TDD skill</a:t>
            </a:r>
            <a:endParaRPr lang="en-US" sz="1200" dirty="0"/>
          </a:p>
        </p:txBody>
      </p:sp>
      <p:sp>
        <p:nvSpPr>
          <p:cNvPr id="9" name="Shape 6"/>
          <p:cNvSpPr/>
          <p:nvPr/>
        </p:nvSpPr>
        <p:spPr>
          <a:xfrm>
            <a:off x="4399095" y="1789227"/>
            <a:ext cx="3414977" cy="1522049"/>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10" name="Image 1" descr="Warning"/>
          <p:cNvPicPr>
            <a:picLocks noChangeAspect="1"/>
          </p:cNvPicPr>
          <p:nvPr/>
        </p:nvPicPr>
        <p:blipFill>
          <a:blip r:embed="rId4"/>
          <a:srcRect/>
          <a:stretch/>
        </p:blipFill>
        <p:spPr>
          <a:xfrm>
            <a:off x="4606479" y="1996610"/>
            <a:ext cx="254000" cy="254000"/>
          </a:xfrm>
          <a:prstGeom prst="rect">
            <a:avLst/>
          </a:prstGeom>
        </p:spPr>
      </p:pic>
      <p:sp>
        <p:nvSpPr>
          <p:cNvPr id="11" name="Text 7"/>
          <p:cNvSpPr/>
          <p:nvPr/>
        </p:nvSpPr>
        <p:spPr>
          <a:xfrm>
            <a:off x="4949362" y="2001655"/>
            <a:ext cx="214451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4A"/>
                </a:solidFill>
                <a:latin typeface="Arial" pitchFamily="34" charset="0"/>
                <a:ea typeface="Arial" pitchFamily="34" charset="-122"/>
                <a:cs typeface="Arial" pitchFamily="34" charset="-120"/>
              </a:rPr>
              <a:t>What AI got wrong</a:t>
            </a:r>
            <a:endParaRPr lang="en-US" sz="1600" dirty="0"/>
          </a:p>
        </p:txBody>
      </p:sp>
      <p:sp>
        <p:nvSpPr>
          <p:cNvPr id="12" name="Text 8"/>
          <p:cNvSpPr/>
          <p:nvPr/>
        </p:nvSpPr>
        <p:spPr>
          <a:xfrm>
            <a:off x="4606479" y="2339494"/>
            <a:ext cx="3090216"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A5A"/>
                </a:solidFill>
                <a:latin typeface="Arial" pitchFamily="34" charset="0"/>
                <a:ea typeface="Arial" pitchFamily="34" charset="-122"/>
                <a:cs typeface="Arial" pitchFamily="34" charset="-120"/>
              </a:rPr>
              <a:t>Skipped Call Next and the display; added a doctor field the PRD cut</a:t>
            </a:r>
            <a:endParaRPr lang="en-US" sz="1300" dirty="0"/>
          </a:p>
        </p:txBody>
      </p:sp>
      <p:sp>
        <p:nvSpPr>
          <p:cNvPr id="13" name="Text 9"/>
          <p:cNvSpPr/>
          <p:nvPr/>
        </p:nvSpPr>
        <p:spPr>
          <a:xfrm>
            <a:off x="4606479" y="2890571"/>
            <a:ext cx="30902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How we caught it: PRD traceability check</a:t>
            </a:r>
            <a:endParaRPr lang="en-US" sz="1200" dirty="0"/>
          </a:p>
        </p:txBody>
      </p:sp>
      <p:sp>
        <p:nvSpPr>
          <p:cNvPr id="14" name="Shape 10"/>
          <p:cNvSpPr/>
          <p:nvPr/>
        </p:nvSpPr>
        <p:spPr>
          <a:xfrm>
            <a:off x="7972805" y="1782877"/>
            <a:ext cx="3406428" cy="1534749"/>
          </a:xfrm>
          <a:prstGeom prst="roundRect">
            <a:avLst>
              <a:gd name="adj" fmla="val 9930"/>
            </a:avLst>
          </a:prstGeom>
          <a:solidFill>
            <a:srgbClr val="312F92"/>
          </a:solidFill>
          <a:ln/>
        </p:spPr>
        <p:txBody>
          <a:bodyPr/>
          <a:lstStyle/>
          <a:p>
            <a:endParaRPr lang="en-IN"/>
          </a:p>
        </p:txBody>
      </p:sp>
      <p:pic>
        <p:nvPicPr>
          <p:cNvPr id="15" name="Image 2" descr="Wrench"/>
          <p:cNvPicPr>
            <a:picLocks noChangeAspect="1"/>
          </p:cNvPicPr>
          <p:nvPr/>
        </p:nvPicPr>
        <p:blipFill>
          <a:blip r:embed="rId5"/>
          <a:srcRect/>
          <a:stretch/>
        </p:blipFill>
        <p:spPr>
          <a:xfrm>
            <a:off x="8175955" y="1986028"/>
            <a:ext cx="254000" cy="254000"/>
          </a:xfrm>
          <a:prstGeom prst="rect">
            <a:avLst/>
          </a:prstGeom>
        </p:spPr>
      </p:pic>
      <p:sp>
        <p:nvSpPr>
          <p:cNvPr id="16" name="Text 11"/>
          <p:cNvSpPr/>
          <p:nvPr/>
        </p:nvSpPr>
        <p:spPr>
          <a:xfrm>
            <a:off x="8518839" y="1991072"/>
            <a:ext cx="20593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8F2"/>
                </a:solidFill>
                <a:latin typeface="Arial" pitchFamily="34" charset="0"/>
                <a:ea typeface="Arial" pitchFamily="34" charset="-122"/>
                <a:cs typeface="Arial" pitchFamily="34" charset="-120"/>
              </a:rPr>
              <a:t>What we changed</a:t>
            </a:r>
            <a:endParaRPr lang="en-US" sz="1600" dirty="0"/>
          </a:p>
        </p:txBody>
      </p:sp>
      <p:sp>
        <p:nvSpPr>
          <p:cNvPr id="17" name="Text 12"/>
          <p:cNvSpPr/>
          <p:nvPr/>
        </p:nvSpPr>
        <p:spPr>
          <a:xfrm>
            <a:off x="8175955" y="2328912"/>
            <a:ext cx="3090131" cy="48759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1DFF5"/>
                </a:solidFill>
                <a:latin typeface="Arial" pitchFamily="34" charset="0"/>
                <a:ea typeface="Arial" pitchFamily="34" charset="-122"/>
                <a:cs typeface="Arial" pitchFamily="34" charset="-120"/>
              </a:rPr>
              <a:t>Rebuilt story by story, tests first; next time, stories before screens</a:t>
            </a:r>
            <a:endParaRPr lang="en-US" sz="1300" dirty="0"/>
          </a:p>
        </p:txBody>
      </p:sp>
      <p:sp>
        <p:nvSpPr>
          <p:cNvPr id="18" name="Text 1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Future Coders · JJCET AI-PDLC Hackathon</a:t>
            </a:r>
            <a:endParaRPr lang="en-US" sz="1200" dirty="0"/>
          </a:p>
        </p:txBody>
      </p:sp>
      <p:sp>
        <p:nvSpPr>
          <p:cNvPr id="19" name="Text 1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theme/theme1.xml><?xml version="1.0" encoding="utf-8"?>
<a:theme xmlns:a="http://schemas.openxmlformats.org/drawingml/2006/main" name="JJCET Hackathon Team Demo Template">
  <a:themeElements>
    <a:clrScheme name="JJCET Hackathon Team Demo Template">
      <a:dk1>
        <a:srgbClr val="17154A"/>
      </a:dk1>
      <a:lt1>
        <a:srgbClr val="FBF8F2"/>
      </a:lt1>
      <a:dk2>
        <a:srgbClr val="504E74"/>
      </a:dk2>
      <a:lt2>
        <a:srgbClr val="E4E1E1"/>
      </a:lt2>
      <a:accent1>
        <a:srgbClr val="F8821E"/>
      </a:accent1>
      <a:accent2>
        <a:srgbClr val="FFB066"/>
      </a:accent2>
      <a:accent3>
        <a:srgbClr val="312F92"/>
      </a:accent3>
      <a:accent4>
        <a:srgbClr val="8A3E05"/>
      </a:accent4>
      <a:accent5>
        <a:srgbClr val="B4550A"/>
      </a:accent5>
      <a:accent6>
        <a:srgbClr val="A9A6D6"/>
      </a:accent6>
      <a:hlink>
        <a:srgbClr val="0563C1"/>
      </a:hlink>
      <a:folHlink>
        <a:srgbClr val="954F72"/>
      </a:folHlink>
    </a:clrScheme>
    <a:fontScheme name="JJCET Hackathon Team Demo Templa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621</Words>
  <Application>Microsoft Office PowerPoint</Application>
  <PresentationFormat>Widescreen</PresentationFormat>
  <Paragraphs>73</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JJCET Hackathon Team Demo Template</vt:lpstr>
      <vt:lpstr>[Team name]</vt:lpstr>
      <vt:lpstr>[One sentence: who struggles, with what]</vt:lpstr>
      <vt:lpstr>“[The one insight that changed what you built]”</vt:lpstr>
      <vt:lpstr>What we built, and what we cut</vt:lpstr>
      <vt:lpstr>PowerPoint Presentation</vt:lpstr>
      <vt:lpstr>What worked, what it got wrong, what we changed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JJCET Hackathon Team Demo Template</dc:title>
  <dc:subject/>
  <dc:creator/>
  <cp:lastModifiedBy>Shan</cp:lastModifiedBy>
  <cp:revision>1</cp:revision>
  <dcterms:created xsi:type="dcterms:W3CDTF">2026-10-21T16:29:27Z</dcterms:created>
  <dcterms:modified xsi:type="dcterms:W3CDTF">2026-10-21T16:59:14Z</dcterms:modified>
</cp:coreProperties>
</file>